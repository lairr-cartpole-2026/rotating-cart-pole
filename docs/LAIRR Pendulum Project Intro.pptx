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4"/>
  </p:notesMasterIdLst>
  <p:handoutMasterIdLst>
    <p:handoutMasterId r:id="rId15"/>
  </p:handoutMasterIdLst>
  <p:sldIdLst>
    <p:sldId id="258" r:id="rId5"/>
    <p:sldId id="261" r:id="rId6"/>
    <p:sldId id="264" r:id="rId7"/>
    <p:sldId id="262" r:id="rId8"/>
    <p:sldId id="267" r:id="rId9"/>
    <p:sldId id="269" r:id="rId10"/>
    <p:sldId id="265"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856623-C8C7-4B25-B04C-324F45774CE2}" v="452" dt="2026-05-13T23:23:41.445"/>
    <p1510:client id="{4625233C-B093-E90A-641E-B9AE72D20BF2}" v="37" dt="2026-05-13T20:35:57.624"/>
    <p1510:client id="{8867596A-D397-23F5-1A77-BD3A1D5C1AE9}" v="7" dt="2026-05-13T18:29:52.755"/>
    <p1510:client id="{BDEBC7FF-6A4D-09ED-D982-6C9A1ACACFB7}" v="98" dt="2026-05-13T23:50:27.254"/>
    <p1510:client id="{D70781E9-E35F-3E45-D9F3-60CD738CB8EE}" v="928" dt="2026-05-13T19:32:03.290"/>
    <p1510:client id="{E200614B-4983-4FA8-A30C-4F2EAD5F8F01}" v="3196" dt="2026-05-14T08:09:34.327"/>
    <p1510:client id="{E78EA01E-E79F-FDC8-0C6B-95936D641EE1}" v="39" dt="2026-05-13T19:20:46.990"/>
    <p1510:client id="{F7B7EC9C-C81B-CA00-B27F-99359ECC99DD}" v="7" dt="2026-05-14T07:28:24.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6/5/2026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6/5/2026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6/5/2026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6/5/2026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6/5/2026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6/5/2026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6/5/2026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6/5/2026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6/5/2026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6/5/2026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6/5/2026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6/5/2026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6/5/2026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6/5/2026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6/5/2026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6/5/2026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6/5/2026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6/5/2026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6/5/2026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6/5/2026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6/5/2026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6/5/2026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6/5/2026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6/5/2026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6/5/2026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6/5/2026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6/5/2026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6/5/2026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6/5/2026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6/5/2026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6/5/2026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6/5/2026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notion.so/LAIRR-Cart-Pole-2026-ebbab6108d0a4c97a4dd0a458fb1aa2d" TargetMode="External"/><Relationship Id="rId2" Type="http://schemas.openxmlformats.org/officeDocument/2006/relationships/hyperlink" Target="https://github.com/LAIRR-CartPole-2026/rotating-cart-pol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3390/app10249013" TargetMode="External"/><Relationship Id="rId2" Type="http://schemas.openxmlformats.org/officeDocument/2006/relationships/hyperlink" Target="https://doi.org/10.3390/math130406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chor="ctr">
            <a:noAutofit/>
          </a:bodyPr>
          <a:lstStyle/>
          <a:p>
            <a:r>
              <a:rPr lang="en-US" sz="6000"/>
              <a:t>Rotating Double Inverted Cart-Pole System</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a:t>LAIRR Summer Project 2026</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ABEB-E175-EF61-D673-D743B6A4D972}"/>
              </a:ext>
            </a:extLst>
          </p:cNvPr>
          <p:cNvSpPr>
            <a:spLocks noGrp="1"/>
          </p:cNvSpPr>
          <p:nvPr>
            <p:ph type="title"/>
          </p:nvPr>
        </p:nvSpPr>
        <p:spPr>
          <a:xfrm>
            <a:off x="612648" y="393526"/>
            <a:ext cx="10963655" cy="762001"/>
          </a:xfrm>
        </p:spPr>
        <p:txBody>
          <a:bodyPr/>
          <a:lstStyle/>
          <a:p>
            <a:r>
              <a:rPr lang="en-US" sz="4000"/>
              <a:t>Teams</a:t>
            </a:r>
          </a:p>
        </p:txBody>
      </p:sp>
      <p:sp>
        <p:nvSpPr>
          <p:cNvPr id="3" name="Content Placeholder 2">
            <a:extLst>
              <a:ext uri="{FF2B5EF4-FFF2-40B4-BE49-F238E27FC236}">
                <a16:creationId xmlns:a16="http://schemas.microsoft.com/office/drawing/2014/main" id="{123C201A-A94C-0941-2519-8E36B049BE78}"/>
              </a:ext>
            </a:extLst>
          </p:cNvPr>
          <p:cNvSpPr>
            <a:spLocks noGrp="1"/>
          </p:cNvSpPr>
          <p:nvPr>
            <p:ph idx="1"/>
          </p:nvPr>
        </p:nvSpPr>
        <p:spPr>
          <a:xfrm>
            <a:off x="612647" y="1155527"/>
            <a:ext cx="10963656" cy="5583090"/>
          </a:xfrm>
        </p:spPr>
        <p:txBody>
          <a:bodyPr vert="horz" lIns="91440" tIns="45720" rIns="91440" bIns="45720" rtlCol="0" anchor="t">
            <a:noAutofit/>
          </a:bodyPr>
          <a:lstStyle/>
          <a:p>
            <a:r>
              <a:rPr lang="en-US" sz="1800" u="sng">
                <a:ea typeface="+mn-lt"/>
                <a:cs typeface="+mn-lt"/>
              </a:rPr>
              <a:t>System Architecture and Project Coordination</a:t>
            </a:r>
          </a:p>
          <a:p>
            <a:r>
              <a:rPr lang="en-US">
                <a:ea typeface="+mn-lt"/>
                <a:cs typeface="+mn-lt"/>
              </a:rPr>
              <a:t>Define system requirements, coordinate team integration, manage timeline/documentation, and liaise with supervisors/resources.</a:t>
            </a:r>
            <a:endParaRPr lang="en-US"/>
          </a:p>
          <a:p>
            <a:r>
              <a:rPr lang="en-US">
                <a:ea typeface="+mn-lt"/>
                <a:cs typeface="+mn-lt"/>
              </a:rPr>
              <a:t>Members: Jayden, Laith, Srinikith</a:t>
            </a:r>
          </a:p>
          <a:p>
            <a:r>
              <a:rPr lang="en-US" sz="1800" u="sng">
                <a:ea typeface="+mn-lt"/>
                <a:cs typeface="+mn-lt"/>
              </a:rPr>
              <a:t>Mechanical Design and Fabrication:</a:t>
            </a:r>
          </a:p>
          <a:p>
            <a:r>
              <a:rPr lang="en-US">
                <a:ea typeface="+mn-lt"/>
                <a:cs typeface="+mn-lt"/>
              </a:rPr>
              <a:t>Design CAD models for the rotating base/cart-pole structure, select materials/components, and oversee fabrication/assembly.</a:t>
            </a:r>
            <a:endParaRPr lang="en-US"/>
          </a:p>
          <a:p>
            <a:r>
              <a:rPr lang="en-US">
                <a:ea typeface="+mn-lt"/>
                <a:cs typeface="+mn-lt"/>
              </a:rPr>
              <a:t>Members: </a:t>
            </a:r>
            <a:r>
              <a:rPr lang="en-US" err="1">
                <a:ea typeface="+mn-lt"/>
                <a:cs typeface="+mn-lt"/>
              </a:rPr>
              <a:t>Hafis</a:t>
            </a:r>
            <a:r>
              <a:rPr lang="en-US">
                <a:ea typeface="+mn-lt"/>
                <a:cs typeface="+mn-lt"/>
              </a:rPr>
              <a:t>, Srinikith, Bethsaida, Pranathi, Riya</a:t>
            </a:r>
          </a:p>
          <a:p>
            <a:r>
              <a:rPr lang="en-US" sz="1800" u="sng"/>
              <a:t>Electronics and Hardware Integration:</a:t>
            </a:r>
            <a:endParaRPr lang="en-US" sz="1800">
              <a:solidFill>
                <a:srgbClr val="000000"/>
              </a:solidFill>
            </a:endParaRPr>
          </a:p>
          <a:p>
            <a:r>
              <a:rPr lang="en-US">
                <a:ea typeface="+mn-lt"/>
                <a:cs typeface="+mn-lt"/>
              </a:rPr>
              <a:t>Select and integrate motors, drivers, sensors, wiring, and power systems for reliable hardware operation.</a:t>
            </a:r>
            <a:endParaRPr lang="en-US"/>
          </a:p>
          <a:p>
            <a:r>
              <a:rPr lang="en-US">
                <a:ea typeface="+mn-lt"/>
                <a:cs typeface="+mn-lt"/>
              </a:rPr>
              <a:t>Members:  </a:t>
            </a:r>
            <a:r>
              <a:rPr lang="en-US" err="1">
                <a:ea typeface="+mn-lt"/>
                <a:cs typeface="+mn-lt"/>
              </a:rPr>
              <a:t>Srii</a:t>
            </a:r>
            <a:r>
              <a:rPr lang="en-US">
                <a:ea typeface="+mn-lt"/>
                <a:cs typeface="+mn-lt"/>
              </a:rPr>
              <a:t>, Ann, Jayden, Pranathi</a:t>
            </a:r>
          </a:p>
          <a:p>
            <a:r>
              <a:rPr lang="en-US" sz="1800" u="sng">
                <a:solidFill>
                  <a:srgbClr val="000102"/>
                </a:solidFill>
                <a:ea typeface="+mn-lt"/>
                <a:cs typeface="+mn-lt"/>
              </a:rPr>
              <a:t>Controlling, Modelling and Simulation:</a:t>
            </a:r>
          </a:p>
          <a:p>
            <a:r>
              <a:rPr lang="en-US">
                <a:ea typeface="+mn-lt"/>
                <a:cs typeface="+mn-lt"/>
              </a:rPr>
              <a:t>Develop mathematical models, simulate system behavior, and design/test controllers for stabilization.</a:t>
            </a:r>
          </a:p>
          <a:p>
            <a:r>
              <a:rPr lang="en-US"/>
              <a:t>Members: Anas, </a:t>
            </a:r>
            <a:r>
              <a:rPr lang="en-US" err="1"/>
              <a:t>Hafis</a:t>
            </a:r>
            <a:r>
              <a:rPr lang="en-US"/>
              <a:t>, Ryan</a:t>
            </a:r>
          </a:p>
          <a:p>
            <a:r>
              <a:rPr lang="en-US" sz="1800" u="sng"/>
              <a:t>High Level Software:</a:t>
            </a:r>
            <a:endParaRPr lang="en-US" sz="1800">
              <a:solidFill>
                <a:srgbClr val="000000"/>
              </a:solidFill>
            </a:endParaRPr>
          </a:p>
          <a:p>
            <a:r>
              <a:rPr lang="en-US"/>
              <a:t>Develop experiment interfaces, logging tools, visualization scripts, and explore advanced control/RL methods.</a:t>
            </a:r>
            <a:endParaRPr lang="en-US" sz="1800">
              <a:solidFill>
                <a:srgbClr val="000000"/>
              </a:solidFill>
            </a:endParaRPr>
          </a:p>
          <a:p>
            <a:r>
              <a:rPr lang="en-US"/>
              <a:t>Members: Ryan, Rhenius, Srinikith, Riya</a:t>
            </a:r>
            <a:endParaRPr lang="en-US" sz="1800">
              <a:solidFill>
                <a:srgbClr val="000000"/>
              </a:solidFill>
            </a:endParaRPr>
          </a:p>
          <a:p>
            <a:endParaRPr lang="en-US"/>
          </a:p>
        </p:txBody>
      </p:sp>
    </p:spTree>
    <p:extLst>
      <p:ext uri="{BB962C8B-B14F-4D97-AF65-F5344CB8AC3E}">
        <p14:creationId xmlns:p14="http://schemas.microsoft.com/office/powerpoint/2010/main" val="257237436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4E45-F3D9-31DF-76C6-73D25CC6548F}"/>
              </a:ext>
            </a:extLst>
          </p:cNvPr>
          <p:cNvSpPr>
            <a:spLocks noGrp="1"/>
          </p:cNvSpPr>
          <p:nvPr>
            <p:ph type="title"/>
          </p:nvPr>
        </p:nvSpPr>
        <p:spPr>
          <a:xfrm>
            <a:off x="612648" y="866274"/>
            <a:ext cx="10963655" cy="762001"/>
          </a:xfrm>
        </p:spPr>
        <p:txBody>
          <a:bodyPr/>
          <a:lstStyle/>
          <a:p>
            <a:r>
              <a:rPr lang="en-US" sz="4000">
                <a:ea typeface="+mj-lt"/>
                <a:cs typeface="+mj-lt"/>
              </a:rPr>
              <a:t>Communication/management channels</a:t>
            </a:r>
            <a:endParaRPr lang="en-US" sz="4000"/>
          </a:p>
        </p:txBody>
      </p:sp>
      <p:sp>
        <p:nvSpPr>
          <p:cNvPr id="3" name="Content Placeholder 2">
            <a:extLst>
              <a:ext uri="{FF2B5EF4-FFF2-40B4-BE49-F238E27FC236}">
                <a16:creationId xmlns:a16="http://schemas.microsoft.com/office/drawing/2014/main" id="{A5A301FA-E03F-C149-3201-AF9943324028}"/>
              </a:ext>
            </a:extLst>
          </p:cNvPr>
          <p:cNvSpPr>
            <a:spLocks noGrp="1"/>
          </p:cNvSpPr>
          <p:nvPr>
            <p:ph idx="1"/>
          </p:nvPr>
        </p:nvSpPr>
        <p:spPr/>
        <p:txBody>
          <a:bodyPr vert="horz" lIns="91440" tIns="45720" rIns="91440" bIns="45720" rtlCol="0" anchor="t">
            <a:noAutofit/>
          </a:bodyPr>
          <a:lstStyle/>
          <a:p>
            <a:r>
              <a:rPr lang="en-US" u="sng">
                <a:ea typeface="+mn-lt"/>
                <a:cs typeface="+mn-lt"/>
              </a:rPr>
              <a:t>Microsoft Teams:</a:t>
            </a:r>
          </a:p>
          <a:p>
            <a:r>
              <a:rPr lang="en-US">
                <a:ea typeface="+mn-lt"/>
                <a:cs typeface="+mn-lt"/>
              </a:rPr>
              <a:t>Primary communications across the teams will be conducted through Microsoft Teams including discussions, chats and meetings.</a:t>
            </a:r>
          </a:p>
          <a:p>
            <a:endParaRPr lang="en-US">
              <a:ea typeface="+mn-lt"/>
              <a:cs typeface="+mn-lt"/>
            </a:endParaRPr>
          </a:p>
          <a:p>
            <a:r>
              <a:rPr lang="en-US" u="sng">
                <a:ea typeface="+mn-lt"/>
                <a:cs typeface="+mn-lt"/>
              </a:rPr>
              <a:t>GitHub repository:</a:t>
            </a:r>
            <a:endParaRPr lang="en-US"/>
          </a:p>
          <a:p>
            <a:r>
              <a:rPr lang="en-US">
                <a:ea typeface="+mn-lt"/>
                <a:cs typeface="+mn-lt"/>
              </a:rPr>
              <a:t>All the project files - CAD files, source codes, electrical schematics, and documentation.</a:t>
            </a:r>
          </a:p>
          <a:p>
            <a:r>
              <a:rPr lang="en-US">
                <a:ea typeface="+mn-lt"/>
                <a:cs typeface="+mn-lt"/>
                <a:hlinkClick r:id="rId2"/>
              </a:rPr>
              <a:t>https://github.com/LAIRR-CartPole-2026/rotating-cart-pole</a:t>
            </a:r>
            <a:endParaRPr lang="en-US"/>
          </a:p>
          <a:p>
            <a:endParaRPr lang="en-US" u="sng"/>
          </a:p>
          <a:p>
            <a:r>
              <a:rPr lang="en-US" u="sng"/>
              <a:t>Fusion 360:</a:t>
            </a:r>
            <a:endParaRPr lang="en-US"/>
          </a:p>
          <a:p>
            <a:r>
              <a:rPr lang="en-US"/>
              <a:t>Designing and modeling of the system will be performed via Fusion 360 using a shared workspace.</a:t>
            </a:r>
          </a:p>
          <a:p>
            <a:endParaRPr lang="en-US">
              <a:ea typeface="+mn-lt"/>
              <a:cs typeface="+mn-lt"/>
            </a:endParaRPr>
          </a:p>
          <a:p>
            <a:r>
              <a:rPr lang="en-US" u="sng">
                <a:ea typeface="+mn-lt"/>
                <a:cs typeface="+mn-lt"/>
              </a:rPr>
              <a:t>Notion workspace:</a:t>
            </a:r>
            <a:endParaRPr lang="en-US">
              <a:ea typeface="+mn-lt"/>
              <a:cs typeface="+mn-lt"/>
            </a:endParaRPr>
          </a:p>
          <a:p>
            <a:r>
              <a:rPr lang="en-US">
                <a:ea typeface="+mn-lt"/>
                <a:cs typeface="+mn-lt"/>
              </a:rPr>
              <a:t>Used as the main hub for project management. It can be used for task assignments, meeting minutes, and tracking progress overall.</a:t>
            </a:r>
          </a:p>
          <a:p>
            <a:r>
              <a:rPr lang="en-US">
                <a:ea typeface="+mn-lt"/>
                <a:cs typeface="+mn-lt"/>
                <a:hlinkClick r:id="rId3"/>
              </a:rPr>
              <a:t>https://www.notion.so/LAIRR-Cart-Pole-2026-ebbab6108d0a4c97a4dd0a458fb1aa2d</a:t>
            </a:r>
            <a:endParaRPr lang="en-US"/>
          </a:p>
        </p:txBody>
      </p:sp>
    </p:spTree>
    <p:extLst>
      <p:ext uri="{BB962C8B-B14F-4D97-AF65-F5344CB8AC3E}">
        <p14:creationId xmlns:p14="http://schemas.microsoft.com/office/powerpoint/2010/main" val="3489359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8FCE2C-9CF8-7C61-64B9-26CD9CC90E26}"/>
              </a:ext>
            </a:extLst>
          </p:cNvPr>
          <p:cNvSpPr>
            <a:spLocks noGrp="1"/>
          </p:cNvSpPr>
          <p:nvPr>
            <p:ph type="title"/>
          </p:nvPr>
        </p:nvSpPr>
        <p:spPr/>
        <p:txBody>
          <a:bodyPr/>
          <a:lstStyle/>
          <a:p>
            <a:r>
              <a:rPr lang="en-US" sz="4000"/>
              <a:t>Project Timeline</a:t>
            </a:r>
            <a:endParaRPr lang="en-AE" sz="4000"/>
          </a:p>
        </p:txBody>
      </p:sp>
      <p:sp>
        <p:nvSpPr>
          <p:cNvPr id="5" name="Content Placeholder 4">
            <a:extLst>
              <a:ext uri="{FF2B5EF4-FFF2-40B4-BE49-F238E27FC236}">
                <a16:creationId xmlns:a16="http://schemas.microsoft.com/office/drawing/2014/main" id="{F70D1291-4069-19E9-2A02-9ECCCB26058A}"/>
              </a:ext>
            </a:extLst>
          </p:cNvPr>
          <p:cNvSpPr>
            <a:spLocks noGrp="1"/>
          </p:cNvSpPr>
          <p:nvPr>
            <p:ph idx="1"/>
          </p:nvPr>
        </p:nvSpPr>
        <p:spPr/>
        <p:txBody>
          <a:bodyPr vert="horz" lIns="91440" tIns="45720" rIns="91440" bIns="45720" rtlCol="0" anchor="t">
            <a:noAutofit/>
          </a:bodyPr>
          <a:lstStyle/>
          <a:p>
            <a:r>
              <a:rPr lang="en-US" sz="1600" b="1"/>
              <a:t>Preliminary week</a:t>
            </a:r>
            <a:r>
              <a:rPr lang="en-US" sz="1600"/>
              <a:t> – Establish team roles into different categories.</a:t>
            </a:r>
          </a:p>
          <a:p>
            <a:r>
              <a:rPr lang="en-TT" sz="1600" b="1"/>
              <a:t>W</a:t>
            </a:r>
            <a:r>
              <a:rPr lang="en-AE" sz="1600" b="1"/>
              <a:t>eek 1</a:t>
            </a:r>
            <a:r>
              <a:rPr lang="en-AE" sz="1600"/>
              <a:t> – Setting up shared workspaces (GitHub, Fusion 360, </a:t>
            </a:r>
            <a:r>
              <a:rPr lang="en-AE" sz="1600" err="1"/>
              <a:t>etc</a:t>
            </a:r>
            <a:r>
              <a:rPr lang="en-AE" sz="1600"/>
              <a:t>). Conduct initial literature review </a:t>
            </a:r>
            <a:r>
              <a:rPr lang="en-TT" sz="1600"/>
              <a:t>on double-inverted pendulum.</a:t>
            </a:r>
            <a:endParaRPr lang="en-AE" sz="1600"/>
          </a:p>
          <a:p>
            <a:r>
              <a:rPr lang="en-AE" sz="1600" b="1"/>
              <a:t>Week 2</a:t>
            </a:r>
            <a:r>
              <a:rPr lang="en-AE" sz="1600"/>
              <a:t> – Implement an initial model to understand requirements. Conduct further research.</a:t>
            </a:r>
          </a:p>
          <a:p>
            <a:r>
              <a:rPr lang="en-AE" sz="1600" b="1"/>
              <a:t>Week 3 </a:t>
            </a:r>
            <a:r>
              <a:rPr lang="en-AE" sz="1600"/>
              <a:t>– </a:t>
            </a:r>
            <a:r>
              <a:rPr lang="en-US" sz="1600"/>
              <a:t>Finalize required materials and request laboratory for materials. Begin simulation using initial developed model.</a:t>
            </a:r>
            <a:endParaRPr lang="en-AE" sz="1600"/>
          </a:p>
          <a:p>
            <a:r>
              <a:rPr lang="en-AE" sz="1600" b="1"/>
              <a:t>Week 4</a:t>
            </a:r>
            <a:r>
              <a:rPr lang="en-AE" sz="1600"/>
              <a:t> – Finalize CAD and prepare fabrication. Set up software environments and </a:t>
            </a:r>
            <a:r>
              <a:rPr lang="en-AE" sz="1600" err="1"/>
              <a:t>initialise</a:t>
            </a:r>
            <a:r>
              <a:rPr lang="en-AE" sz="1600"/>
              <a:t> communication protocols.</a:t>
            </a:r>
          </a:p>
          <a:p>
            <a:r>
              <a:rPr lang="en-AE" sz="1600" b="1"/>
              <a:t>Week 5</a:t>
            </a:r>
            <a:r>
              <a:rPr lang="en-AE" sz="1600"/>
              <a:t> – Assemble fabricated base and electronics. Begin prototyping phase. Initiate software simulations of control algorithms.</a:t>
            </a:r>
          </a:p>
          <a:p>
            <a:r>
              <a:rPr lang="en-AE" sz="1600" b="1"/>
              <a:t>Week 6</a:t>
            </a:r>
            <a:r>
              <a:rPr lang="en-AE" sz="1600"/>
              <a:t> – Perform testing of motor movement and sensor feedback. </a:t>
            </a:r>
          </a:p>
          <a:p>
            <a:r>
              <a:rPr lang="en-AE" sz="1600" b="1"/>
              <a:t>Week 7</a:t>
            </a:r>
            <a:r>
              <a:rPr lang="en-AE" sz="1600"/>
              <a:t> – Begin testing of whole system. Troubleshoot mechanical issues, sensor noise or software delay.</a:t>
            </a:r>
          </a:p>
          <a:p>
            <a:r>
              <a:rPr lang="en-AE" sz="1600" b="1"/>
              <a:t>Week 8</a:t>
            </a:r>
            <a:r>
              <a:rPr lang="en-AE" sz="1600"/>
              <a:t> – Replace prototype</a:t>
            </a:r>
            <a:r>
              <a:rPr lang="en-TT" sz="1600"/>
              <a:t> </a:t>
            </a:r>
            <a:r>
              <a:rPr lang="en-AE" sz="1600"/>
              <a:t>model after evaluation. Cleanup of wiring.</a:t>
            </a:r>
          </a:p>
          <a:p>
            <a:r>
              <a:rPr lang="en-AE" sz="1600" b="1"/>
              <a:t>Week 9</a:t>
            </a:r>
            <a:r>
              <a:rPr lang="en-AE" sz="1600"/>
              <a:t> – Final validation of system and project submission.</a:t>
            </a:r>
          </a:p>
          <a:p>
            <a:endParaRPr lang="en-AE"/>
          </a:p>
        </p:txBody>
      </p:sp>
    </p:spTree>
    <p:extLst>
      <p:ext uri="{BB962C8B-B14F-4D97-AF65-F5344CB8AC3E}">
        <p14:creationId xmlns:p14="http://schemas.microsoft.com/office/powerpoint/2010/main" val="71979933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D75C4-2A6A-7338-3EA4-2B1222B60880}"/>
              </a:ext>
            </a:extLst>
          </p:cNvPr>
          <p:cNvSpPr>
            <a:spLocks noGrp="1"/>
          </p:cNvSpPr>
          <p:nvPr>
            <p:ph type="title"/>
          </p:nvPr>
        </p:nvSpPr>
        <p:spPr/>
        <p:txBody>
          <a:bodyPr/>
          <a:lstStyle/>
          <a:p>
            <a:r>
              <a:rPr lang="en-US" sz="4000"/>
              <a:t>Initial Plan</a:t>
            </a:r>
            <a:endParaRPr lang="en-AE" sz="4000"/>
          </a:p>
        </p:txBody>
      </p:sp>
      <p:sp>
        <p:nvSpPr>
          <p:cNvPr id="3" name="Content Placeholder 2">
            <a:extLst>
              <a:ext uri="{FF2B5EF4-FFF2-40B4-BE49-F238E27FC236}">
                <a16:creationId xmlns:a16="http://schemas.microsoft.com/office/drawing/2014/main" id="{485FD9E0-C171-E0CD-8F9E-F3E0056604E4}"/>
              </a:ext>
            </a:extLst>
          </p:cNvPr>
          <p:cNvSpPr>
            <a:spLocks noGrp="1"/>
          </p:cNvSpPr>
          <p:nvPr>
            <p:ph idx="1"/>
          </p:nvPr>
        </p:nvSpPr>
        <p:spPr>
          <a:xfrm>
            <a:off x="612647" y="1828800"/>
            <a:ext cx="5483353" cy="4343400"/>
          </a:xfrm>
        </p:spPr>
        <p:txBody>
          <a:bodyPr/>
          <a:lstStyle/>
          <a:p>
            <a:r>
              <a:rPr lang="en-US" sz="2000" u="sng"/>
              <a:t>Mechanical &amp; Electronics Plans</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Completion of initial CAD assembly by week 4.</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Multiple iterations of 3D printing for prototyping sensor and motor mounts.</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Integration of different sensors like encoders at joints and testing 12C communication speeds of microcontrollers.</a:t>
            </a:r>
          </a:p>
        </p:txBody>
      </p:sp>
      <p:sp>
        <p:nvSpPr>
          <p:cNvPr id="4" name="Content Placeholder 2">
            <a:extLst>
              <a:ext uri="{FF2B5EF4-FFF2-40B4-BE49-F238E27FC236}">
                <a16:creationId xmlns:a16="http://schemas.microsoft.com/office/drawing/2014/main" id="{6DA3898C-8F29-BC33-ADA5-B9926E1B9B0B}"/>
              </a:ext>
            </a:extLst>
          </p:cNvPr>
          <p:cNvSpPr txBox="1">
            <a:spLocks/>
          </p:cNvSpPr>
          <p:nvPr/>
        </p:nvSpPr>
        <p:spPr>
          <a:xfrm>
            <a:off x="6092950" y="1828800"/>
            <a:ext cx="5483353" cy="43434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sng"/>
              <a:t>Control and Software Plans</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Determining the motions required for double pendulum control.</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Developing simulations using MATLAB/Simulink or other software before hardware fabrication.</a:t>
            </a:r>
          </a:p>
          <a:p>
            <a:pPr marL="285750" indent="-285750">
              <a:buFont typeface="Arial" panose="020B0604020202020204" pitchFamily="34" charset="0"/>
              <a:buChar char="•"/>
            </a:pPr>
            <a:r>
              <a:rPr lang="en-AE" sz="1600">
                <a:ea typeface="ADLaM Display" panose="02010000000000000000" pitchFamily="2" charset="0"/>
                <a:cs typeface="ADLaM Display" panose="02010000000000000000" pitchFamily="2" charset="0"/>
              </a:rPr>
              <a:t>Establishing a clean communication protocol between the various motors and the system.</a:t>
            </a:r>
          </a:p>
        </p:txBody>
      </p:sp>
    </p:spTree>
    <p:extLst>
      <p:ext uri="{BB962C8B-B14F-4D97-AF65-F5344CB8AC3E}">
        <p14:creationId xmlns:p14="http://schemas.microsoft.com/office/powerpoint/2010/main" val="1585383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DA0C-F43F-7208-BB45-E7C1514A57FD}"/>
              </a:ext>
            </a:extLst>
          </p:cNvPr>
          <p:cNvSpPr>
            <a:spLocks noGrp="1"/>
          </p:cNvSpPr>
          <p:nvPr>
            <p:ph type="title"/>
          </p:nvPr>
        </p:nvSpPr>
        <p:spPr>
          <a:xfrm>
            <a:off x="612647" y="502227"/>
            <a:ext cx="10963655" cy="762001"/>
          </a:xfrm>
        </p:spPr>
        <p:txBody>
          <a:bodyPr/>
          <a:lstStyle/>
          <a:p>
            <a:r>
              <a:rPr lang="en-US" sz="4000"/>
              <a:t>Expected Deliverables</a:t>
            </a:r>
            <a:endParaRPr lang="en-US"/>
          </a:p>
        </p:txBody>
      </p:sp>
      <p:sp>
        <p:nvSpPr>
          <p:cNvPr id="3" name="Content Placeholder 2">
            <a:extLst>
              <a:ext uri="{FF2B5EF4-FFF2-40B4-BE49-F238E27FC236}">
                <a16:creationId xmlns:a16="http://schemas.microsoft.com/office/drawing/2014/main" id="{53EABAD6-897C-F23B-B22A-593CE4871306}"/>
              </a:ext>
            </a:extLst>
          </p:cNvPr>
          <p:cNvSpPr>
            <a:spLocks noGrp="1"/>
          </p:cNvSpPr>
          <p:nvPr>
            <p:ph idx="1"/>
          </p:nvPr>
        </p:nvSpPr>
        <p:spPr>
          <a:xfrm>
            <a:off x="612646" y="1465117"/>
            <a:ext cx="10963656" cy="4343400"/>
          </a:xfrm>
        </p:spPr>
        <p:txBody>
          <a:bodyPr vert="horz" lIns="91440" tIns="45720" rIns="91440" bIns="45720" rtlCol="0" anchor="t">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i="0" u="sng" strike="noStrike" kern="1200" cap="none" spc="0" normalizeH="0" baseline="0" noProof="0">
                <a:ln>
                  <a:noFill/>
                </a:ln>
                <a:solidFill>
                  <a:srgbClr val="000102"/>
                </a:solidFill>
                <a:effectLst/>
                <a:uLnTx/>
                <a:uFillTx/>
                <a:latin typeface="Bahnschrift SemiLight"/>
                <a:ea typeface="+mn-ea"/>
                <a:cs typeface="+mn-cs"/>
              </a:rPr>
              <a:t>Physical System</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Fully assembled and operational rotating double inverted pendulum hardware platform.</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err="1">
                <a:solidFill>
                  <a:srgbClr val="000102"/>
                </a:solidFill>
                <a:latin typeface="Bahnschrift SemiLight"/>
              </a:rPr>
              <a:t>Characterised</a:t>
            </a:r>
            <a:r>
              <a:rPr kumimoji="0" lang="en-US" sz="1400" b="0" i="0" u="none" strike="noStrike" kern="1200" cap="none" spc="0" normalizeH="0" baseline="0" noProof="0">
                <a:ln>
                  <a:noFill/>
                </a:ln>
                <a:solidFill>
                  <a:srgbClr val="000102"/>
                </a:solidFill>
                <a:effectLst/>
                <a:uLnTx/>
                <a:uFillTx/>
                <a:latin typeface="Bahnschrift SemiLight"/>
                <a:ea typeface="+mn-ea"/>
                <a:cs typeface="+mn-cs"/>
              </a:rPr>
              <a:t> and documented mechanical and electrical subsystems.</a:t>
            </a:r>
            <a:endParaRPr lang="en-US" sz="1400" b="0" i="0" u="none" strike="noStrike" kern="1200" cap="none" spc="0" normalizeH="0" baseline="0" noProof="0">
              <a:ln>
                <a:noFill/>
              </a:ln>
              <a:solidFill>
                <a:srgbClr val="000102"/>
              </a:solidFill>
              <a:effectLst/>
              <a:uLnTx/>
              <a:uFillTx/>
              <a:latin typeface="Bahnschrift SemiLight"/>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i="0" u="sng" strike="noStrike" kern="1200" cap="none" spc="0" normalizeH="0" baseline="0" noProof="0">
                <a:ln>
                  <a:noFill/>
                </a:ln>
                <a:solidFill>
                  <a:srgbClr val="000102"/>
                </a:solidFill>
                <a:effectLst/>
                <a:uLnTx/>
                <a:uFillTx/>
                <a:latin typeface="Bahnschrift SemiLight"/>
                <a:ea typeface="+mn-ea"/>
                <a:cs typeface="+mn-cs"/>
              </a:rPr>
              <a:t>Software</a:t>
            </a:r>
            <a:endParaRPr lang="en-US" sz="1800" i="0" u="sng" strike="noStrike" kern="1200" cap="none" spc="0" normalizeH="0" baseline="0" noProof="0">
              <a:ln>
                <a:noFill/>
              </a:ln>
              <a:solidFill>
                <a:srgbClr val="000102"/>
              </a:solidFill>
              <a:effectLst/>
              <a:uLnTx/>
              <a:uFillTx/>
              <a:latin typeface="Bahnschrift SemiLight"/>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Real-time control software (swing-up + LQR </a:t>
            </a:r>
            <a:r>
              <a:rPr kumimoji="0" lang="en-US" sz="1400" b="0" i="0" u="none" strike="noStrike" kern="1200" cap="none" spc="0" normalizeH="0" baseline="0" noProof="0" err="1">
                <a:ln>
                  <a:noFill/>
                </a:ln>
                <a:solidFill>
                  <a:srgbClr val="000102"/>
                </a:solidFill>
                <a:effectLst/>
                <a:uLnTx/>
                <a:uFillTx/>
                <a:latin typeface="Bahnschrift SemiLight"/>
                <a:ea typeface="+mn-ea"/>
                <a:cs typeface="+mn-cs"/>
              </a:rPr>
              <a:t>stabilisation</a:t>
            </a:r>
            <a:r>
              <a:rPr kumimoji="0" lang="en-US" sz="1400" b="0" i="0" u="none" strike="noStrike" kern="1200" cap="none" spc="0" normalizeH="0" baseline="0" noProof="0">
                <a:ln>
                  <a:noFill/>
                </a:ln>
                <a:solidFill>
                  <a:srgbClr val="000102"/>
                </a:solidFill>
                <a:effectLst/>
                <a:uLnTx/>
                <a:uFillTx/>
                <a:latin typeface="Bahnschrift SemiLight"/>
                <a:ea typeface="+mn-ea"/>
                <a:cs typeface="+mn-cs"/>
              </a:rPr>
              <a:t>) running on the target microcontroller.</a:t>
            </a:r>
            <a:endParaRPr lang="en-US" sz="1400" b="0" i="0" u="none" strike="noStrike" kern="1200" cap="none" spc="0" normalizeH="0" baseline="0" noProof="0">
              <a:ln>
                <a:noFill/>
              </a:ln>
              <a:solidFill>
                <a:srgbClr val="000102"/>
              </a:solidFill>
              <a:effectLst/>
              <a:uLnTx/>
              <a:uFillTx/>
              <a:latin typeface="Bahnschrift SemiLight"/>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MATLAB/Simulink or Python simulation models with all reported experiments reproducible.</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Data logging and </a:t>
            </a:r>
            <a:r>
              <a:rPr kumimoji="0" lang="en-US" sz="1400" b="0" i="0" u="none" strike="noStrike" kern="1200" cap="none" spc="0" normalizeH="0" baseline="0" noProof="0" err="1">
                <a:ln>
                  <a:noFill/>
                </a:ln>
                <a:solidFill>
                  <a:srgbClr val="000102"/>
                </a:solidFill>
                <a:effectLst/>
                <a:uLnTx/>
                <a:uFillTx/>
                <a:latin typeface="Bahnschrift SemiLight"/>
                <a:ea typeface="+mn-ea"/>
                <a:cs typeface="+mn-cs"/>
              </a:rPr>
              <a:t>visualisation</a:t>
            </a:r>
            <a:r>
              <a:rPr kumimoji="0" lang="en-US" sz="1400" b="0" i="0" u="none" strike="noStrike" kern="1200" cap="none" spc="0" normalizeH="0" baseline="0" noProof="0">
                <a:ln>
                  <a:noFill/>
                </a:ln>
                <a:solidFill>
                  <a:srgbClr val="000102"/>
                </a:solidFill>
                <a:effectLst/>
                <a:uLnTx/>
                <a:uFillTx/>
                <a:latin typeface="Bahnschrift SemiLight"/>
                <a:ea typeface="+mn-ea"/>
                <a:cs typeface="+mn-cs"/>
              </a:rPr>
              <a:t> tools for state trajectories and control inputs.</a:t>
            </a:r>
            <a:endParaRPr lang="en-US" sz="1400" b="0" i="0" u="none" strike="noStrike" kern="1200" cap="none" spc="0" normalizeH="0" baseline="0" noProof="0">
              <a:ln>
                <a:noFill/>
              </a:ln>
              <a:solidFill>
                <a:srgbClr val="000102"/>
              </a:solidFill>
              <a:effectLst/>
              <a:uLnTx/>
              <a:uFillTx/>
              <a:latin typeface="Bahnschrift SemiLight"/>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All code hosted on the team’s GitHub repository with documentation.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i="0" u="sng" strike="noStrike" kern="1200" cap="none" spc="0" normalizeH="0" baseline="0" noProof="0">
                <a:ln>
                  <a:noFill/>
                </a:ln>
                <a:solidFill>
                  <a:srgbClr val="000102"/>
                </a:solidFill>
                <a:effectLst/>
                <a:uLnTx/>
                <a:uFillTx/>
                <a:latin typeface="Bahnschrift SemiLight"/>
                <a:ea typeface="+mn-ea"/>
                <a:cs typeface="+mn-cs"/>
              </a:rPr>
              <a:t>Documentation</a:t>
            </a:r>
            <a:endParaRPr lang="en-US" sz="1800" i="0" u="sng" strike="noStrike" kern="1200" cap="none" spc="0" normalizeH="0" baseline="0" noProof="0">
              <a:ln>
                <a:noFill/>
              </a:ln>
              <a:solidFill>
                <a:srgbClr val="000102"/>
              </a:solidFill>
              <a:effectLst/>
              <a:uLnTx/>
              <a:uFillTx/>
              <a:latin typeface="Bahnschrift SemiLight"/>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Final technical report: system modelling, controller design, simulation results, hardware results, and analysis.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CAD files and electrical schematics in the shared Fusion 360 workspace.</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Meeting minutes and progress logs are maintained throughout on Notion.</a:t>
            </a:r>
            <a:endParaRPr lang="en-US" sz="1400" b="0" i="0" u="none" strike="noStrike" kern="1200" cap="none" spc="0" normalizeH="0" baseline="0" noProof="0">
              <a:ln>
                <a:noFill/>
              </a:ln>
              <a:solidFill>
                <a:srgbClr val="000102"/>
              </a:solidFill>
              <a:effectLst/>
              <a:uLnTx/>
              <a:uFillTx/>
              <a:latin typeface="Bahnschrift SemiLight"/>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i="0" u="sng" strike="noStrike" kern="1200" cap="none" spc="0" normalizeH="0" baseline="0" noProof="0">
                <a:ln>
                  <a:noFill/>
                </a:ln>
                <a:solidFill>
                  <a:srgbClr val="000102"/>
                </a:solidFill>
                <a:effectLst/>
                <a:uLnTx/>
                <a:uFillTx/>
                <a:latin typeface="Bahnschrift SemiLight"/>
                <a:ea typeface="+mn-ea"/>
                <a:cs typeface="+mn-cs"/>
              </a:rPr>
              <a:t>Demonstration</a:t>
            </a:r>
            <a:endParaRPr lang="en-US" sz="1800" i="0" u="sng" strike="noStrike" kern="1200" cap="none" spc="0" normalizeH="0" baseline="0" noProof="0">
              <a:ln>
                <a:noFill/>
              </a:ln>
              <a:solidFill>
                <a:srgbClr val="000102"/>
              </a:solidFill>
              <a:effectLst/>
              <a:uLnTx/>
              <a:uFillTx/>
              <a:latin typeface="Bahnschrift SemiLight"/>
            </a:endParaRPr>
          </a:p>
          <a:p>
            <a:pPr marL="285750" indent="-285750">
              <a:buFont typeface="Arial" panose="020B0604020202020204" pitchFamily="34" charset="0"/>
              <a:buChar char="•"/>
              <a:defRPr/>
            </a:pPr>
            <a:r>
              <a:rPr kumimoji="0" lang="en-US" sz="1400" b="0" i="0" u="none" strike="noStrike" kern="1200" cap="none" spc="0" normalizeH="0" baseline="0" noProof="0">
                <a:ln>
                  <a:noFill/>
                </a:ln>
                <a:solidFill>
                  <a:srgbClr val="000102"/>
                </a:solidFill>
                <a:effectLst/>
                <a:uLnTx/>
                <a:uFillTx/>
                <a:latin typeface="Bahnschrift SemiLight"/>
                <a:ea typeface="+mn-ea"/>
                <a:cs typeface="+mn-cs"/>
              </a:rPr>
              <a:t>Live system demonstration during Week 9 submission</a:t>
            </a:r>
            <a:r>
              <a:rPr lang="en-US">
                <a:solidFill>
                  <a:srgbClr val="000102"/>
                </a:solidFill>
                <a:latin typeface="Bahnschrift SemiLight"/>
              </a:rPr>
              <a:t> —</a:t>
            </a:r>
            <a:r>
              <a:rPr kumimoji="0" lang="en-US" sz="1400" b="0" i="0" u="none" strike="noStrike" kern="1200" cap="none" spc="0" normalizeH="0" baseline="0" noProof="0">
                <a:ln>
                  <a:noFill/>
                </a:ln>
                <a:solidFill>
                  <a:srgbClr val="000102"/>
                </a:solidFill>
                <a:effectLst/>
                <a:uLnTx/>
                <a:uFillTx/>
                <a:latin typeface="Bahnschrift SemiLight"/>
                <a:ea typeface="+mn-ea"/>
                <a:cs typeface="+mn-cs"/>
              </a:rPr>
              <a:t> swing-up from rest and sustained upright </a:t>
            </a:r>
            <a:r>
              <a:rPr kumimoji="0" lang="en-US" sz="1400" b="0" i="0" u="none" strike="noStrike" kern="1200" cap="none" spc="0" normalizeH="0" baseline="0" noProof="0" err="1">
                <a:ln>
                  <a:noFill/>
                </a:ln>
                <a:solidFill>
                  <a:srgbClr val="000102"/>
                </a:solidFill>
                <a:effectLst/>
                <a:uLnTx/>
                <a:uFillTx/>
                <a:latin typeface="Bahnschrift SemiLight"/>
                <a:ea typeface="+mn-ea"/>
                <a:cs typeface="+mn-cs"/>
              </a:rPr>
              <a:t>stabilisation</a:t>
            </a:r>
            <a:r>
              <a:rPr kumimoji="0" lang="en-US" sz="1400" b="0" i="0" u="none" strike="noStrike" kern="1200" cap="none" spc="0" normalizeH="0" baseline="0" noProof="0">
                <a:ln>
                  <a:noFill/>
                </a:ln>
                <a:solidFill>
                  <a:srgbClr val="000102"/>
                </a:solidFill>
                <a:effectLst/>
                <a:uLnTx/>
                <a:uFillTx/>
                <a:latin typeface="Bahnschrift SemiLight"/>
                <a:ea typeface="+mn-ea"/>
                <a:cs typeface="+mn-cs"/>
              </a:rPr>
              <a:t>.</a:t>
            </a:r>
            <a:endParaRPr lang="en-US" sz="1400" b="0" i="0" u="none" strike="noStrike" kern="1200" cap="none" spc="0" normalizeH="0" baseline="0" noProof="0">
              <a:ln>
                <a:noFill/>
              </a:ln>
              <a:solidFill>
                <a:srgbClr val="000102"/>
              </a:solidFill>
              <a:effectLst/>
              <a:uLnTx/>
              <a:uFillTx/>
              <a:latin typeface="Bahnschrift SemiLight"/>
            </a:endParaRPr>
          </a:p>
          <a:p>
            <a:endParaRPr lang="en-US"/>
          </a:p>
        </p:txBody>
      </p:sp>
    </p:spTree>
    <p:extLst>
      <p:ext uri="{BB962C8B-B14F-4D97-AF65-F5344CB8AC3E}">
        <p14:creationId xmlns:p14="http://schemas.microsoft.com/office/powerpoint/2010/main" val="1145748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535A9-30A3-046F-23F6-5670ED8C384C}"/>
              </a:ext>
            </a:extLst>
          </p:cNvPr>
          <p:cNvSpPr>
            <a:spLocks noGrp="1"/>
          </p:cNvSpPr>
          <p:nvPr>
            <p:ph type="title"/>
          </p:nvPr>
        </p:nvSpPr>
        <p:spPr>
          <a:xfrm>
            <a:off x="612648" y="836195"/>
            <a:ext cx="10963655" cy="762001"/>
          </a:xfrm>
        </p:spPr>
        <p:txBody>
          <a:bodyPr/>
          <a:lstStyle/>
          <a:p>
            <a:r>
              <a:rPr lang="en-US" sz="3900">
                <a:ea typeface="+mj-lt"/>
                <a:cs typeface="+mj-lt"/>
              </a:rPr>
              <a:t>resources and lab access Requirements</a:t>
            </a:r>
            <a:endParaRPr lang="en-US" sz="3900"/>
          </a:p>
        </p:txBody>
      </p:sp>
      <p:sp>
        <p:nvSpPr>
          <p:cNvPr id="3" name="Content Placeholder 2">
            <a:extLst>
              <a:ext uri="{FF2B5EF4-FFF2-40B4-BE49-F238E27FC236}">
                <a16:creationId xmlns:a16="http://schemas.microsoft.com/office/drawing/2014/main" id="{4814E09B-E5D1-941A-B18C-D9826525F206}"/>
              </a:ext>
            </a:extLst>
          </p:cNvPr>
          <p:cNvSpPr>
            <a:spLocks noGrp="1"/>
          </p:cNvSpPr>
          <p:nvPr>
            <p:ph idx="1"/>
          </p:nvPr>
        </p:nvSpPr>
        <p:spPr/>
        <p:txBody>
          <a:bodyPr vert="horz" lIns="91440" tIns="45720" rIns="91440" bIns="45720" rtlCol="0" anchor="t">
            <a:noAutofit/>
          </a:bodyPr>
          <a:lstStyle/>
          <a:p>
            <a:r>
              <a:rPr lang="en-US" sz="2000" u="sng"/>
              <a:t>Hardware Requirement:</a:t>
            </a:r>
          </a:p>
          <a:p>
            <a:r>
              <a:rPr lang="en-US">
                <a:latin typeface="Bahnschrift SemiLight"/>
                <a:cs typeface="Times New Roman"/>
              </a:rPr>
              <a:t>Resources may include motors/actuators, sensors for position feedback, control hardware, power electronics, mechanical components for prototyping, and fabrication tools for custom parts if required. Software tools for modelling, simulation, and system design may also be needed during development.</a:t>
            </a:r>
            <a:endParaRPr lang="en-US">
              <a:latin typeface="Bahnschrift SemiLight"/>
            </a:endParaRPr>
          </a:p>
          <a:p>
            <a:r>
              <a:rPr lang="en-US" sz="1800" u="sng">
                <a:latin typeface="Bahnschrift SemiLight"/>
                <a:cs typeface="Times New Roman"/>
              </a:rPr>
              <a:t>Lab Access Needs:</a:t>
            </a:r>
            <a:endParaRPr lang="en-US">
              <a:latin typeface="Bahnschrift SemiLight"/>
            </a:endParaRPr>
          </a:p>
          <a:p>
            <a:pPr marL="285750" indent="-285750">
              <a:buChar char="•"/>
            </a:pPr>
            <a:r>
              <a:rPr lang="en-US">
                <a:latin typeface="Bahnschrift SemiLight"/>
                <a:cs typeface="Times New Roman"/>
              </a:rPr>
              <a:t>Fabrication Lab</a:t>
            </a:r>
            <a:endParaRPr lang="en-US">
              <a:latin typeface="Bahnschrift SemiLight"/>
            </a:endParaRPr>
          </a:p>
          <a:p>
            <a:pPr marL="285750" indent="-285750">
              <a:buChar char="•"/>
            </a:pPr>
            <a:r>
              <a:rPr lang="en-US">
                <a:latin typeface="Bahnschrift SemiLight"/>
                <a:cs typeface="Times New Roman"/>
              </a:rPr>
              <a:t>Electrical Lab</a:t>
            </a:r>
            <a:endParaRPr lang="en-US">
              <a:latin typeface="Bahnschrift SemiLight"/>
            </a:endParaRPr>
          </a:p>
          <a:p>
            <a:pPr marL="285750" indent="-285750">
              <a:buChar char="•"/>
            </a:pPr>
            <a:r>
              <a:rPr lang="en-US">
                <a:latin typeface="Bahnschrift SemiLight"/>
                <a:cs typeface="Times New Roman"/>
              </a:rPr>
              <a:t>Robotics Lab</a:t>
            </a:r>
            <a:endParaRPr lang="en-US">
              <a:latin typeface="Bahnschrift SemiLight"/>
            </a:endParaRPr>
          </a:p>
        </p:txBody>
      </p:sp>
    </p:spTree>
    <p:extLst>
      <p:ext uri="{BB962C8B-B14F-4D97-AF65-F5344CB8AC3E}">
        <p14:creationId xmlns:p14="http://schemas.microsoft.com/office/powerpoint/2010/main" val="320077593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7AA4-739D-9B54-C31F-E9990CBD5A39}"/>
              </a:ext>
            </a:extLst>
          </p:cNvPr>
          <p:cNvSpPr>
            <a:spLocks noGrp="1"/>
          </p:cNvSpPr>
          <p:nvPr>
            <p:ph type="title"/>
          </p:nvPr>
        </p:nvSpPr>
        <p:spPr/>
        <p:txBody>
          <a:bodyPr/>
          <a:lstStyle/>
          <a:p>
            <a:r>
              <a:rPr lang="en-US" sz="4000"/>
              <a:t>Implementation ACTION plan</a:t>
            </a:r>
          </a:p>
        </p:txBody>
      </p:sp>
      <p:sp>
        <p:nvSpPr>
          <p:cNvPr id="3" name="Content Placeholder 2">
            <a:extLst>
              <a:ext uri="{FF2B5EF4-FFF2-40B4-BE49-F238E27FC236}">
                <a16:creationId xmlns:a16="http://schemas.microsoft.com/office/drawing/2014/main" id="{A1D92F22-41B7-AFD4-72A3-AAF63A37D73A}"/>
              </a:ext>
            </a:extLst>
          </p:cNvPr>
          <p:cNvSpPr>
            <a:spLocks noGrp="1"/>
          </p:cNvSpPr>
          <p:nvPr>
            <p:ph idx="1"/>
          </p:nvPr>
        </p:nvSpPr>
        <p:spPr/>
        <p:txBody>
          <a:bodyPr vert="horz" lIns="91440" tIns="45720" rIns="91440" bIns="45720" rtlCol="0" anchor="t">
            <a:noAutofit/>
          </a:bodyPr>
          <a:lstStyle/>
          <a:p>
            <a:r>
              <a:rPr lang="en-US"/>
              <a:t>Preliminary Week: Teams were formed according to the skill level and interests of different members as shown earlier.</a:t>
            </a:r>
          </a:p>
          <a:p>
            <a:r>
              <a:rPr lang="en-US"/>
              <a:t>Week 1: Project Managements set up as mentioned earlier; initial research [1] [2] led to development of CAD assembly to understand project requirements.</a:t>
            </a:r>
          </a:p>
          <a:p>
            <a:r>
              <a:rPr lang="en-US"/>
              <a:t>Week 2: A CAD model was developed with joint movements to understand the requirements needed and to initiate simulation testing.</a:t>
            </a:r>
            <a:r>
              <a:rPr lang="en-US">
                <a:ea typeface="+mn-lt"/>
                <a:cs typeface="+mn-lt"/>
              </a:rPr>
              <a:t> A draft System Requirements Document (SRD) needs to be created, capturing functional requirements (swing-up and </a:t>
            </a:r>
            <a:r>
              <a:rPr lang="en-US" err="1">
                <a:ea typeface="+mn-lt"/>
                <a:cs typeface="+mn-lt"/>
              </a:rPr>
              <a:t>stabilisation</a:t>
            </a:r>
            <a:r>
              <a:rPr lang="en-US">
                <a:ea typeface="+mn-lt"/>
                <a:cs typeface="+mn-lt"/>
              </a:rPr>
              <a:t> performance targets), hardware constraints (motor torque, encoder resolution, control loop frequency), and interface definitions between mechanical, electronics, and software subsystems — to serve as the shared reference for all teams going forward.</a:t>
            </a:r>
          </a:p>
          <a:p>
            <a:endParaRPr lang="en-US"/>
          </a:p>
        </p:txBody>
      </p:sp>
    </p:spTree>
    <p:extLst>
      <p:ext uri="{BB962C8B-B14F-4D97-AF65-F5344CB8AC3E}">
        <p14:creationId xmlns:p14="http://schemas.microsoft.com/office/powerpoint/2010/main" val="1567299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253D1-3C86-E168-B83D-D6E2B4F1F43A}"/>
              </a:ext>
            </a:extLst>
          </p:cNvPr>
          <p:cNvSpPr>
            <a:spLocks noGrp="1"/>
          </p:cNvSpPr>
          <p:nvPr>
            <p:ph type="title"/>
          </p:nvPr>
        </p:nvSpPr>
        <p:spPr/>
        <p:txBody>
          <a:bodyPr/>
          <a:lstStyle/>
          <a:p>
            <a:r>
              <a:rPr lang="en-US" sz="4000"/>
              <a:t>References</a:t>
            </a:r>
            <a:endParaRPr lang="en-AE" sz="4000"/>
          </a:p>
        </p:txBody>
      </p:sp>
      <p:sp>
        <p:nvSpPr>
          <p:cNvPr id="3" name="Content Placeholder 2">
            <a:extLst>
              <a:ext uri="{FF2B5EF4-FFF2-40B4-BE49-F238E27FC236}">
                <a16:creationId xmlns:a16="http://schemas.microsoft.com/office/drawing/2014/main" id="{EE75437F-AE12-4C4D-E10D-7E506DE759CB}"/>
              </a:ext>
            </a:extLst>
          </p:cNvPr>
          <p:cNvSpPr>
            <a:spLocks noGrp="1"/>
          </p:cNvSpPr>
          <p:nvPr>
            <p:ph idx="1"/>
          </p:nvPr>
        </p:nvSpPr>
        <p:spPr/>
        <p:txBody>
          <a:bodyPr/>
          <a:lstStyle/>
          <a:p>
            <a:r>
              <a:rPr lang="en-US"/>
              <a:t>[1] D. Ju, T. Lee, and Y. S. Lee, “Transition Control of a Rotary Double Inverted Pendulum Using Direct Collocation,” Mathematics, vol. 13, no. 4, p. 640, Feb. 2025, </a:t>
            </a:r>
            <a:r>
              <a:rPr lang="en-US" err="1"/>
              <a:t>doi</a:t>
            </a:r>
            <a:r>
              <a:rPr lang="en-US"/>
              <a:t>: </a:t>
            </a:r>
            <a:r>
              <a:rPr lang="en-US">
                <a:hlinkClick r:id="rId2"/>
              </a:rPr>
              <a:t>https://doi.org/10.3390/math13040640</a:t>
            </a:r>
            <a:r>
              <a:rPr lang="en-US"/>
              <a:t>.</a:t>
            </a:r>
          </a:p>
          <a:p>
            <a:r>
              <a:rPr lang="en-US"/>
              <a:t>[2] C. A. Manrique Escobar, C. M. Pappalardo, and D. Guida, “A Parametric Study of a Deep Reinforcement Learning Control System Applied to the Swing-Up Problem of the Cart-Pole,” Applied Sciences, vol. 10, no. 24, p. 9013, Dec. 2020, </a:t>
            </a:r>
            <a:r>
              <a:rPr lang="en-US" err="1"/>
              <a:t>doi</a:t>
            </a:r>
            <a:r>
              <a:rPr lang="en-US"/>
              <a:t>: </a:t>
            </a:r>
            <a:r>
              <a:rPr lang="en-US">
                <a:hlinkClick r:id="rId3"/>
              </a:rPr>
              <a:t>https://doi.org/10.3390/app10249013</a:t>
            </a:r>
            <a:r>
              <a:rPr lang="en-US"/>
              <a:t>.</a:t>
            </a:r>
          </a:p>
          <a:p>
            <a:endParaRPr lang="en-AE"/>
          </a:p>
        </p:txBody>
      </p:sp>
    </p:spTree>
    <p:extLst>
      <p:ext uri="{BB962C8B-B14F-4D97-AF65-F5344CB8AC3E}">
        <p14:creationId xmlns:p14="http://schemas.microsoft.com/office/powerpoint/2010/main" val="4273847955"/>
      </p:ext>
    </p:extLst>
  </p:cSld>
  <p:clrMapOvr>
    <a:masterClrMapping/>
  </p:clrMapOvr>
  <p:transition spd="med">
    <p:pull/>
  </p:transition>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BEF0BC-8EFA-4AA0-B426-BDF55B996AB9}">
  <we:reference id="WA200010001" version="1.0.0.1" store="Omex" storeType="OMEX"/>
  <we:alternateReferences>
    <we:reference id="WA200010001" version="1.0.0.1" store="WA200010001" storeType="OMEX"/>
  </we:alternateReferences>
  <we:properties>
    <we:property name="claude.fileId" value="&quot;ee668b8f-a904-4cb9-a553-63c42fa3b7a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B45346F3D5A04FBC60D9FAEA6C4F0D" ma:contentTypeVersion="15" ma:contentTypeDescription="Create a new document." ma:contentTypeScope="" ma:versionID="5e2ec563fe203ac8109034d00014594f">
  <xsd:schema xmlns:xsd="http://www.w3.org/2001/XMLSchema" xmlns:xs="http://www.w3.org/2001/XMLSchema" xmlns:p="http://schemas.microsoft.com/office/2006/metadata/properties" xmlns:ns3="947de72d-e509-45e0-9639-a88fb97bc69f" xmlns:ns4="9b52ecbe-2b32-446b-805f-1dbe4d2836fb" targetNamespace="http://schemas.microsoft.com/office/2006/metadata/properties" ma:root="true" ma:fieldsID="904a15aec5949bfe67bdad47032d5be3" ns3:_="" ns4:_="">
    <xsd:import namespace="947de72d-e509-45e0-9639-a88fb97bc69f"/>
    <xsd:import namespace="9b52ecbe-2b32-446b-805f-1dbe4d2836fb"/>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ServiceDateTaken" minOccurs="0"/>
                <xsd:element ref="ns3:MediaLengthInSeconds" minOccurs="0"/>
                <xsd:element ref="ns3:MediaServiceObjectDetectorVersions" minOccurs="0"/>
                <xsd:element ref="ns3:MediaServiceSearchProperties"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7de72d-e509-45e0-9639-a88fb97bc6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b52ecbe-2b32-446b-805f-1dbe4d2836f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47de72d-e509-45e0-9639-a88fb97bc69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383C51-6798-4C0C-AED0-F8A9229E3FB3}">
  <ds:schemaRefs>
    <ds:schemaRef ds:uri="947de72d-e509-45e0-9639-a88fb97bc69f"/>
    <ds:schemaRef ds:uri="9b52ecbe-2b32-446b-805f-1dbe4d2836f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A42C18-4C38-43BB-8CE3-C963EDA9CBBA}">
  <ds:schemaRefs>
    <ds:schemaRef ds:uri="947de72d-e509-45e0-9639-a88fb97bc69f"/>
    <ds:schemaRef ds:uri="9b52ecbe-2b32-446b-805f-1dbe4d2836f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{02DF77C6-B596-4A2D-9B78-5750FA043D3D}0f45c1b8-b519-4737-8f12-a18148944ef7-TFfcaeb239-e0ad-43c4-9739-4084ddd7c62fe496f549_win32</Template>
  <Application>Microsoft Office PowerPoint</Application>
  <PresentationFormat>Widescreen</PresentationFormat>
  <Slides>9</Slides>
  <Notes>1</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Blockwork elegance</vt:lpstr>
      <vt:lpstr>Rotating Double Inverted Cart-Pole System</vt:lpstr>
      <vt:lpstr>Teams</vt:lpstr>
      <vt:lpstr>Communication/management channels</vt:lpstr>
      <vt:lpstr>Project Timeline</vt:lpstr>
      <vt:lpstr>Initial Plan</vt:lpstr>
      <vt:lpstr>Expected Deliverables</vt:lpstr>
      <vt:lpstr>resources and lab access Requirements</vt:lpstr>
      <vt:lpstr>Implementation ACTION plan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Srinikith Bhaskaran Vanitha</dc:creator>
  <cp:revision>2</cp:revision>
  <dcterms:created xsi:type="dcterms:W3CDTF">2026-05-13T18:27:16Z</dcterms:created>
  <dcterms:modified xsi:type="dcterms:W3CDTF">2026-06-05T17:20:58Z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0x010100D8B45346F3D5A04FBC60D9FAEA6C4F0D</vt:lpwstr>
  </property>
  <property fmtid="{D5CDD505-2E9C-101B-9397-08002B2CF9AE}" pid="3" name="MediaServiceImageTags">
    <vt:lpwstr/>
  </property>
</Properties>
</file>